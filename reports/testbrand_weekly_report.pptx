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0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64592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1E3C73"/>
                </a:solidFill>
                <a:latin typeface="Calibri"/>
              </a:defRPr>
            </a:pPr>
            <a:r>
              <a:t>TestBrand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333333"/>
                </a:solidFill>
                <a:latin typeface="Calibri"/>
              </a:defRPr>
            </a:pPr>
            <a:r>
              <a:t>Weekly Social Media Performance Report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47472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333333"/>
                </a:solidFill>
                <a:latin typeface="Calibri"/>
              </a:defRPr>
            </a:pPr>
            <a:r>
              <a:t>Mar 1 - Mar 28,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66928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99999"/>
                </a:solidFill>
                <a:latin typeface="Calibri"/>
              </a:defRPr>
            </a:pPr>
            <a:r>
              <a:t>Prepared by TNT | Powered by Ascnd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E3C73"/>
                </a:solidFill>
                <a:latin typeface="Calibri"/>
              </a:defRPr>
            </a:pPr>
            <a:r>
              <a:t>Executive Summary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2011680"/>
            <a:ext cx="2468880" cy="16459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E3C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1E3C73"/>
                </a:solidFill>
                <a:latin typeface="Calibri"/>
              </a:defRPr>
            </a:pPr>
            <a:r>
              <a:t>35</a:t>
            </a:r>
          </a:p>
          <a:p>
            <a:pPr algn="ctr">
              <a:defRPr sz="1200">
                <a:solidFill>
                  <a:srgbClr val="999999"/>
                </a:solidFill>
                <a:latin typeface="Calibri"/>
              </a:defRPr>
            </a:pPr>
            <a:r>
              <a:t>Total Posts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429000" y="2011680"/>
            <a:ext cx="2468880" cy="16459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E3C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1E3C73"/>
                </a:solidFill>
                <a:latin typeface="Calibri"/>
              </a:defRPr>
            </a:pPr>
            <a:r>
              <a:t>641,600</a:t>
            </a:r>
          </a:p>
          <a:p>
            <a:pPr algn="ctr">
              <a:defRPr sz="1200">
                <a:solidFill>
                  <a:srgbClr val="999999"/>
                </a:solidFill>
                <a:latin typeface="Calibri"/>
              </a:defRPr>
            </a:pPr>
            <a:r>
              <a:t>Total Reach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2011680"/>
            <a:ext cx="2468880" cy="16459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E3C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1E3C73"/>
                </a:solidFill>
                <a:latin typeface="Calibri"/>
              </a:defRPr>
            </a:pPr>
            <a:r>
              <a:t>8.83%</a:t>
            </a:r>
          </a:p>
          <a:p>
            <a:pPr algn="ctr">
              <a:defRPr sz="1200">
                <a:solidFill>
                  <a:srgbClr val="999999"/>
                </a:solidFill>
                <a:latin typeface="Calibri"/>
              </a:defRPr>
            </a:pPr>
            <a:r>
              <a:t>Avg Engagement Rate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006840" y="2011680"/>
            <a:ext cx="2468880" cy="16459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E3C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1E3C73"/>
                </a:solidFill>
                <a:latin typeface="Calibri"/>
              </a:defRPr>
            </a:pPr>
            <a:r>
              <a:t>Reel</a:t>
            </a:r>
          </a:p>
          <a:p>
            <a:pPr algn="ctr">
              <a:defRPr sz="1200">
                <a:solidFill>
                  <a:srgbClr val="999999"/>
                </a:solidFill>
                <a:latin typeface="Calibri"/>
              </a:defRPr>
            </a:pPr>
            <a:r>
              <a:t>Top Content Type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E3C73"/>
                </a:solidFill>
                <a:latin typeface="Calibri"/>
              </a:defRPr>
            </a:pPr>
            <a:r>
              <a:t>Instagram Performance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188720"/>
            <a:ext cx="3200400" cy="10972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E3C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1E3C73"/>
                </a:solidFill>
                <a:latin typeface="Calibri"/>
              </a:defRPr>
            </a:pPr>
            <a:r>
              <a:t>20</a:t>
            </a:r>
          </a:p>
          <a:p>
            <a:pPr algn="ctr">
              <a:defRPr sz="1200">
                <a:solidFill>
                  <a:srgbClr val="999999"/>
                </a:solidFill>
                <a:latin typeface="Calibri"/>
              </a:defRPr>
            </a:pPr>
            <a:r>
              <a:t>Posts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206240" y="1188720"/>
            <a:ext cx="3200400" cy="10972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E3C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1E3C73"/>
                </a:solidFill>
                <a:latin typeface="Calibri"/>
              </a:defRPr>
            </a:pPr>
            <a:r>
              <a:t>497,700</a:t>
            </a:r>
          </a:p>
          <a:p>
            <a:pPr algn="ctr">
              <a:defRPr sz="1200">
                <a:solidFill>
                  <a:srgbClr val="999999"/>
                </a:solidFill>
                <a:latin typeface="Calibri"/>
              </a:defRPr>
            </a:pPr>
            <a:r>
              <a:t>Total Reach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0" y="1188720"/>
            <a:ext cx="3200400" cy="10972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E3C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1E3C73"/>
                </a:solidFill>
                <a:latin typeface="Calibri"/>
              </a:defRPr>
            </a:pPr>
            <a:r>
              <a:t>8.45%</a:t>
            </a:r>
          </a:p>
          <a:p>
            <a:pPr algn="ctr">
              <a:defRPr sz="1200">
                <a:solidFill>
                  <a:srgbClr val="999999"/>
                </a:solidFill>
                <a:latin typeface="Calibri"/>
              </a:defRPr>
            </a:pPr>
            <a:r>
              <a:t>Avg Engagement Rate</a:t>
            </a:r>
          </a:p>
        </p:txBody>
      </p:sp>
      <p:pic>
        <p:nvPicPr>
          <p:cNvPr id="6" name="Picture 5" descr="ig_reach_by_typ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926080"/>
            <a:ext cx="5486400" cy="3657600"/>
          </a:xfrm>
          <a:prstGeom prst="rect">
            <a:avLst/>
          </a:prstGeom>
        </p:spPr>
      </p:pic>
      <p:pic>
        <p:nvPicPr>
          <p:cNvPr id="7" name="Picture 6" descr="ig_eng_by_typ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2926080"/>
            <a:ext cx="54864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E3C73"/>
                </a:solidFill>
                <a:latin typeface="Calibri"/>
              </a:defRPr>
            </a:pPr>
            <a:r>
              <a:t>Top Performing Instagram Posts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883767" y="1463040"/>
          <a:ext cx="1042416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1371600"/>
                <a:gridCol w="4114800"/>
                <a:gridCol w="1645920"/>
                <a:gridCol w="1645920"/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Date</a:t>
                      </a:r>
                    </a:p>
                  </a:txBody>
                  <a:tcPr anchor="ctr">
                    <a:solidFill>
                      <a:srgbClr val="1E3C7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Type</a:t>
                      </a:r>
                    </a:p>
                  </a:txBody>
                  <a:tcPr anchor="ctr">
                    <a:solidFill>
                      <a:srgbClr val="1E3C7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Caption</a:t>
                      </a:r>
                    </a:p>
                  </a:txBody>
                  <a:tcPr anchor="ctr">
                    <a:solidFill>
                      <a:srgbClr val="1E3C7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Reach</a:t>
                      </a:r>
                    </a:p>
                  </a:txBody>
                  <a:tcPr anchor="ctr">
                    <a:solidFill>
                      <a:srgbClr val="1E3C7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Eng. Rate</a:t>
                      </a:r>
                    </a:p>
                  </a:txBody>
                  <a:tcPr anchor="ctr">
                    <a:solidFill>
                      <a:srgbClr val="1E3C73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2026-03-19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Reel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Wait for the cheese pull at the end. You're welcome.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50,000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12.7%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2026-03-15</a:t>
                      </a:r>
                    </a:p>
                  </a:txBody>
                  <a:tcPr anchor="ctr">
                    <a:solidFill>
                      <a:srgbClr val="FAF7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Reel</a:t>
                      </a:r>
                    </a:p>
                  </a:txBody>
                  <a:tcPr anchor="ctr">
                    <a:solidFill>
                      <a:srgbClr val="FAF7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Three words: truffle. parmesan. fries.</a:t>
                      </a:r>
                    </a:p>
                  </a:txBody>
                  <a:tcPr anchor="ctr">
                    <a:solidFill>
                      <a:srgbClr val="FAF7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45,200</a:t>
                      </a:r>
                    </a:p>
                  </a:txBody>
                  <a:tcPr anchor="ctr">
                    <a:solidFill>
                      <a:srgbClr val="FAF7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12.59%</a:t>
                      </a:r>
                    </a:p>
                  </a:txBody>
                  <a:tcPr anchor="ctr">
                    <a:solidFill>
                      <a:srgbClr val="FAF7F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2026-03-24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Reel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The sound of our fresh pasta being made is pure ASMR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41,000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11.39%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2026-03-28</a:t>
                      </a:r>
                    </a:p>
                  </a:txBody>
                  <a:tcPr anchor="ctr">
                    <a:solidFill>
                      <a:srgbClr val="FAF7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Reel</a:t>
                      </a:r>
                    </a:p>
                  </a:txBody>
                  <a:tcPr anchor="ctr">
                    <a:solidFill>
                      <a:srgbClr val="FAF7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This reel took 6 hours to film and 30 seconds to eat. Story of our lives</a:t>
                      </a:r>
                    </a:p>
                  </a:txBody>
                  <a:tcPr anchor="ctr">
                    <a:solidFill>
                      <a:srgbClr val="FAF7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44,800</a:t>
                      </a:r>
                    </a:p>
                  </a:txBody>
                  <a:tcPr anchor="ctr">
                    <a:solidFill>
                      <a:srgbClr val="FAF7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11.37%</a:t>
                      </a:r>
                    </a:p>
                  </a:txBody>
                  <a:tcPr anchor="ctr">
                    <a:solidFill>
                      <a:srgbClr val="FAF7F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2026-03-01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Reel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New drop alert! Our spicy mango salsa is here and your taste buds aren't ready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48,500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10.81%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E3C73"/>
                </a:solidFill>
                <a:latin typeface="Calibri"/>
              </a:defRPr>
            </a:pPr>
            <a:r>
              <a:t>X (Twitter) Performance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188720"/>
            <a:ext cx="3200400" cy="10972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E3C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1E3C73"/>
                </a:solidFill>
                <a:latin typeface="Calibri"/>
              </a:defRPr>
            </a:pPr>
            <a:r>
              <a:t>15</a:t>
            </a:r>
          </a:p>
          <a:p>
            <a:pPr algn="ctr">
              <a:defRPr sz="1200">
                <a:solidFill>
                  <a:srgbClr val="999999"/>
                </a:solidFill>
                <a:latin typeface="Calibri"/>
              </a:defRPr>
            </a:pPr>
            <a:r>
              <a:t>Tweets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206240" y="1188720"/>
            <a:ext cx="3200400" cy="10972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E3C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1E3C73"/>
                </a:solidFill>
                <a:latin typeface="Calibri"/>
              </a:defRPr>
            </a:pPr>
            <a:r>
              <a:t>143,900</a:t>
            </a:r>
          </a:p>
          <a:p>
            <a:pPr algn="ctr">
              <a:defRPr sz="1200">
                <a:solidFill>
                  <a:srgbClr val="999999"/>
                </a:solidFill>
                <a:latin typeface="Calibri"/>
              </a:defRPr>
            </a:pPr>
            <a:r>
              <a:t>Total Impressions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0" y="1188720"/>
            <a:ext cx="3200400" cy="10972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E3C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1E3C73"/>
                </a:solidFill>
                <a:latin typeface="Calibri"/>
              </a:defRPr>
            </a:pPr>
            <a:r>
              <a:t>3.27%</a:t>
            </a:r>
          </a:p>
          <a:p>
            <a:pPr algn="ctr">
              <a:defRPr sz="1200">
                <a:solidFill>
                  <a:srgbClr val="999999"/>
                </a:solidFill>
                <a:latin typeface="Calibri"/>
              </a:defRPr>
            </a:pPr>
            <a:r>
              <a:t>Avg Engagement Rate</a:t>
            </a:r>
          </a:p>
        </p:txBody>
      </p:sp>
      <p:pic>
        <p:nvPicPr>
          <p:cNvPr id="6" name="Picture 5" descr="x_imp_by_typ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926080"/>
            <a:ext cx="5486400" cy="3657600"/>
          </a:xfrm>
          <a:prstGeom prst="rect">
            <a:avLst/>
          </a:prstGeom>
        </p:spPr>
      </p:pic>
      <p:pic>
        <p:nvPicPr>
          <p:cNvPr id="7" name="Picture 6" descr="x_eng_by_typ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2926080"/>
            <a:ext cx="54864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E3C73"/>
                </a:solidFill>
                <a:latin typeface="Calibri"/>
              </a:defRPr>
            </a:pPr>
            <a:r>
              <a:t>Top Performing X Posts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929487" y="1463040"/>
          <a:ext cx="1033272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5029200"/>
                <a:gridCol w="1828800"/>
                <a:gridCol w="1828800"/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Date</a:t>
                      </a:r>
                    </a:p>
                  </a:txBody>
                  <a:tcPr anchor="ctr">
                    <a:solidFill>
                      <a:srgbClr val="1E3C7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Tweet Preview</a:t>
                      </a:r>
                    </a:p>
                  </a:txBody>
                  <a:tcPr anchor="ctr">
                    <a:solidFill>
                      <a:srgbClr val="1E3C7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Impressions</a:t>
                      </a:r>
                    </a:p>
                  </a:txBody>
                  <a:tcPr anchor="ctr">
                    <a:solidFill>
                      <a:srgbClr val="1E3C7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Eng. Rate</a:t>
                      </a:r>
                    </a:p>
                  </a:txBody>
                  <a:tcPr anchor="ctr">
                    <a:solidFill>
                      <a:srgbClr val="1E3C73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2026-03-08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Retweet if you've ever eaten an entire burrito bowl in under 5 minutes. No judgment.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11,200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4.6%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2026-03-03</a:t>
                      </a:r>
                    </a:p>
                  </a:txBody>
                  <a:tcPr anchor="ctr">
                    <a:solidFill>
                      <a:srgbClr val="FAF7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Unpopular opinion: pineapple on pizza is elite and we will die on this hill</a:t>
                      </a:r>
                    </a:p>
                  </a:txBody>
                  <a:tcPr anchor="ctr">
                    <a:solidFill>
                      <a:srgbClr val="FAF7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15,000</a:t>
                      </a:r>
                    </a:p>
                  </a:txBody>
                  <a:tcPr anchor="ctr">
                    <a:solidFill>
                      <a:srgbClr val="FAF7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4.5%</a:t>
                      </a:r>
                    </a:p>
                  </a:txBody>
                  <a:tcPr anchor="ctr">
                    <a:solidFill>
                      <a:srgbClr val="FAF7F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2026-03-10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The truffle fries are back. This is not a drill.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14,200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4.4%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2026-03-18</a:t>
                      </a:r>
                    </a:p>
                  </a:txBody>
                  <a:tcPr anchor="ctr">
                    <a:solidFill>
                      <a:srgbClr val="FAF7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Our new summer menu drops Monday. Here's a sneak peek.</a:t>
                      </a:r>
                    </a:p>
                  </a:txBody>
                  <a:tcPr anchor="ctr">
                    <a:solidFill>
                      <a:srgbClr val="FAF7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13,500</a:t>
                      </a:r>
                    </a:p>
                  </a:txBody>
                  <a:tcPr anchor="ctr">
                    <a:solidFill>
                      <a:srgbClr val="FAF7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4.0%</a:t>
                      </a:r>
                    </a:p>
                  </a:txBody>
                  <a:tcPr anchor="ctr">
                    <a:solidFill>
                      <a:srgbClr val="FAF7F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2026-03-07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Our secret menu is no longer a secret. Link in bio for the full list.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9,800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4.0%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E3C73"/>
                </a:solidFill>
                <a:latin typeface="Calibri"/>
              </a:defRPr>
            </a:pPr>
            <a:r>
              <a:t>Key Insights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600">
                <a:solidFill>
                  <a:srgbClr val="333333"/>
                </a:solidFill>
                <a:latin typeface="Calibri"/>
              </a:defRPr>
              <a:buChar char="•"/>
            </a:pPr>
            <a:r>
              <a:t>Reels drove the highest average engagement at 11.2%</a:t>
            </a:r>
          </a:p>
          <a:p>
            <a:pPr>
              <a:spcAft>
                <a:spcPts val="1400"/>
              </a:spcAft>
              <a:defRPr sz="1600">
                <a:solidFill>
                  <a:srgbClr val="333333"/>
                </a:solidFill>
                <a:latin typeface="Calibri"/>
              </a:defRPr>
              <a:buChar char="•"/>
            </a:pPr>
            <a:r>
              <a:t>Sunday was the strongest posting day with 34,950 average reach</a:t>
            </a:r>
          </a:p>
          <a:p>
            <a:pPr>
              <a:spcAft>
                <a:spcPts val="1400"/>
              </a:spcAft>
              <a:defRPr sz="1600">
                <a:solidFill>
                  <a:srgbClr val="333333"/>
                </a:solidFill>
                <a:latin typeface="Calibri"/>
              </a:defRPr>
              <a:buChar char="•"/>
            </a:pPr>
            <a:r>
              <a:t>The top post reached 50,000 people with 12.7% engagement</a:t>
            </a:r>
          </a:p>
          <a:p>
            <a:pPr>
              <a:spcAft>
                <a:spcPts val="1400"/>
              </a:spcAft>
              <a:defRPr sz="1600">
                <a:solidFill>
                  <a:srgbClr val="333333"/>
                </a:solidFill>
                <a:latin typeface="Calibri"/>
              </a:defRPr>
              <a:buChar char="•"/>
            </a:pPr>
            <a:r>
              <a:t>Instagram generated 497,700 total reach across 20 posts</a:t>
            </a:r>
          </a:p>
          <a:p>
            <a:pPr>
              <a:spcAft>
                <a:spcPts val="1400"/>
              </a:spcAft>
              <a:defRPr sz="1600">
                <a:solidFill>
                  <a:srgbClr val="333333"/>
                </a:solidFill>
                <a:latin typeface="Calibri"/>
              </a:defRPr>
              <a:buChar char="•"/>
            </a:pPr>
            <a:r>
              <a:t>X generated 143,900 impressions across 15 tweets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54864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1">
                <a:solidFill>
                  <a:srgbClr val="999999"/>
                </a:solidFill>
                <a:latin typeface="Calibri"/>
              </a:defRPr>
            </a:pPr>
            <a:r>
              <a:t>Space for additional notes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0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1E3C73"/>
                </a:solidFill>
                <a:latin typeface="Calibri"/>
              </a:defRPr>
            </a:pPr>
            <a: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20040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333333"/>
                </a:solidFill>
                <a:latin typeface="Calibri"/>
              </a:defRPr>
            </a:pPr>
            <a:r>
              <a:t>Prepared by TNT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93192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99999"/>
                </a:solidFill>
                <a:latin typeface="Calibri"/>
              </a:defRPr>
            </a:pPr>
            <a:r>
              <a:t>Report generated by Ascnd ReportEngine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66344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99999"/>
                </a:solidFill>
                <a:latin typeface="Calibri"/>
              </a:defRPr>
            </a:pPr>
            <a:r>
              <a:t>Mar 1 - Mar 28,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